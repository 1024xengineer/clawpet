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78" r:id="rId9"/>
    <p:sldId id="264" r:id="rId10"/>
    <p:sldId id="265" r:id="rId11"/>
    <p:sldId id="266" r:id="rId12"/>
    <p:sldId id="267" r:id="rId13"/>
    <p:sldId id="279" r:id="rId14"/>
    <p:sldId id="268" r:id="rId15"/>
    <p:sldId id="270" r:id="rId16"/>
    <p:sldId id="271" r:id="rId17"/>
    <p:sldId id="269" r:id="rId18"/>
    <p:sldId id="272" r:id="rId19"/>
    <p:sldId id="273" r:id="rId20"/>
    <p:sldId id="274" r:id="rId21"/>
    <p:sldId id="275" r:id="rId22"/>
    <p:sldId id="277" r:id="rId23"/>
    <p:sldId id="276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3042" autoAdjust="0"/>
  </p:normalViewPr>
  <p:slideViewPr>
    <p:cSldViewPr snapToGrid="0" snapToObjects="1">
      <p:cViewPr varScale="1">
        <p:scale>
          <a:sx n="81" d="100"/>
          <a:sy n="81" d="100"/>
        </p:scale>
        <p:origin x="67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0228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【开场白 · 约1分钟】</a:t>
            </a:r>
          </a:p>
          <a:p>
            <a:endParaRPr/>
          </a:p>
          <a:p>
            <a:r>
              <a:t>大家好，我是本次汇报的主讲人。今天要分享的项目叫ClawPet——一个智能虚拟桌宠。</a:t>
            </a:r>
          </a:p>
          <a:p>
            <a:endParaRPr/>
          </a:p>
          <a:p>
            <a:r>
              <a:t>先问大家一个问题：你有没有加班到深夜，关掉文档后对着空荡荡的桌面，突然觉得只剩自己一个人？或者周末宅在家里，想找人说说话，又不想打扰朋友？</a:t>
            </a:r>
          </a:p>
          <a:p>
            <a:endParaRPr/>
          </a:p>
          <a:p>
            <a:r>
              <a:t>这种"数字孤独感"正在催生一个巨大的市场。2024年全球智能陪伴市场规模已达281.9亿美元，年增长率超过30%。ClawPet正是在这个背景下诞生的——不是又一个冷冰冰的AI工具，而是一个能陪你、懂你、还能顺手帮你处理小事的桌面虚拟伴侣。</a:t>
            </a:r>
          </a:p>
          <a:p>
            <a:endParaRPr/>
          </a:p>
          <a:p>
            <a:r>
              <a:t>接下来分四个部分展开：市场机会与产品定位、目标用户与核心场景、产品架构与功能设计、落地节奏与未来想象。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【章节导览 · 快速翻过】</a:t>
            </a:r>
          </a:p>
          <a:p>
            <a:endParaRPr/>
          </a:p>
          <a:p>
            <a:r>
              <a:t>四个章节：第一章看市场机会，第二章看目标用户，第三章看产品方案，第四章看落地计划。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【过渡页】</a:t>
            </a:r>
          </a:p>
          <a:p>
            <a:endParaRPr/>
          </a:p>
          <a:p>
            <a:r>
              <a:t>首先进入第一章——市场机会与产品定位。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【1.2 时代背景与核心痛点 · 约2分钟】</a:t>
            </a:r>
          </a:p>
          <a:p>
            <a:endParaRPr/>
          </a:p>
          <a:p>
            <a:r>
              <a:t>先看市场规模。全球智能陪伴市场2024年达281.9亿美元，预计以30.8%的年复合增长率扩张。AI陪伴类App全球下载量突破2.2亿次，用户年消费超2亿美元，同比增长超60%。</a:t>
            </a:r>
          </a:p>
          <a:p>
            <a:endParaRPr/>
          </a:p>
          <a:p>
            <a:r>
              <a:t>再看巨头动向。字节推出陪伴玩偶"显眼包"和智能耳机Ola Friend，OpenAI花65亿美元收购AI硬件公司io，科沃斯发布情感机器人Famibot。头部公司用真金白银告诉我们：AI的下一个战场不在对话框里，而在"一直在身边"的位置。</a:t>
            </a:r>
          </a:p>
          <a:p>
            <a:endParaRPr/>
          </a:p>
          <a:p>
            <a:r>
              <a:t>用户期待也在变。两年前用ChatGPT是"问一个问题得一个答案"，现在用户开始把AI当作可以商量事的对象。他们期待AI具备三个新特质：持续稳定的人格、跨会话的长期记忆、以及合适时机的主动关怀。一句话：从"用完即走的工具"变成"一直都在的伙伴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【1.1 现有方案对比与市场空白 · 约1.5分钟】</a:t>
            </a:r>
          </a:p>
          <a:p>
            <a:endParaRPr/>
          </a:p>
          <a:p>
            <a:r>
              <a:t>市场上现有的解决方案，分别覆盖了用户需求的某一部分，但没人把陪伴和工具融合到一起。</a:t>
            </a:r>
          </a:p>
          <a:p>
            <a:endParaRPr/>
          </a:p>
          <a:p>
            <a:r>
              <a:t>OpenClaw——底层框架，技术强但普通用户用不了，你不能让运营小姐姐去写Agent配置文件。我们做到了一键安装的图形化体验。</a:t>
            </a:r>
          </a:p>
          <a:p>
            <a:endParaRPr/>
          </a:p>
          <a:p>
            <a:r>
              <a:t>NeuroSama类产品——人格化做得好，但工具能力为零，你让它帮你查天气，它做不到。我们做到了天气提醒、文件整理等轻量工具闭环。</a:t>
            </a:r>
          </a:p>
          <a:p>
            <a:endParaRPr/>
          </a:p>
          <a:p>
            <a:r>
              <a:t>传统AI陪伴软件——星野日活超648万，但本质是手机端聊天工具，不能感知桌面状态、不能操作文件系统。我们做到了桌面常驻加系统事件感知。</a:t>
            </a:r>
          </a:p>
          <a:p>
            <a:endParaRPr/>
          </a:p>
          <a:p>
            <a:r>
              <a:t>RPA产品——执行力强，但完全没人格，配置门槛高。我们做到了自然语言交互加情感化表达，零配置。</a:t>
            </a:r>
          </a:p>
          <a:p>
            <a:endParaRPr/>
          </a:p>
          <a:p>
            <a:r>
              <a:t>结论：现有方案要么有情感没能力，要么有能力没情感。ClawPet卡在中间这个空白地带。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【1.3 </a:t>
            </a:r>
            <a:r>
              <a:rPr lang="zh-CN" altLang="en-US" dirty="0"/>
              <a:t>用户痛点 </a:t>
            </a:r>
            <a:r>
              <a:rPr lang="en-US" altLang="zh-CN" dirty="0"/>
              <a:t>· </a:t>
            </a:r>
            <a:r>
              <a:rPr lang="zh-CN" altLang="en-US" dirty="0"/>
              <a:t>约</a:t>
            </a:r>
            <a:r>
              <a:rPr lang="en-US" altLang="zh-CN" dirty="0"/>
              <a:t>1.5</a:t>
            </a:r>
            <a:r>
              <a:rPr lang="zh-CN" altLang="en-US" dirty="0"/>
              <a:t>分钟</a:t>
            </a:r>
            <a:r>
              <a:rPr lang="en-US" altLang="zh-CN" dirty="0"/>
              <a:t>】</a:t>
            </a:r>
          </a:p>
          <a:p>
            <a:endParaRPr lang="en-US" altLang="zh-CN" dirty="0"/>
          </a:p>
          <a:p>
            <a:r>
              <a:rPr lang="zh-CN" altLang="en-US" dirty="0"/>
              <a:t>我们梳理了五个核心痛点，先看前三个：</a:t>
            </a:r>
          </a:p>
          <a:p>
            <a:endParaRPr lang="zh-CN" altLang="en-US" dirty="0"/>
          </a:p>
          <a:p>
            <a:r>
              <a:rPr lang="zh-CN" altLang="en-US" dirty="0"/>
              <a:t>第一，缺乏共情回应。举个例子，你加班到晚上</a:t>
            </a:r>
            <a:r>
              <a:rPr lang="en-US" altLang="zh-CN" dirty="0"/>
              <a:t>11</a:t>
            </a:r>
            <a:r>
              <a:rPr lang="zh-CN" altLang="en-US" dirty="0"/>
              <a:t>点，终于忙完了，跟</a:t>
            </a:r>
            <a:r>
              <a:rPr lang="en-US" altLang="zh-CN" dirty="0"/>
              <a:t>AI</a:t>
            </a:r>
            <a:r>
              <a:rPr lang="zh-CN" altLang="en-US" dirty="0"/>
              <a:t>助手说了句</a:t>
            </a:r>
            <a:r>
              <a:rPr lang="en-US" altLang="zh-CN" dirty="0"/>
              <a:t>"</a:t>
            </a:r>
            <a:r>
              <a:rPr lang="zh-CN" altLang="en-US" dirty="0"/>
              <a:t>今天好累，感觉自己什么都做不好</a:t>
            </a:r>
            <a:r>
              <a:rPr lang="en-US" altLang="zh-CN" dirty="0"/>
              <a:t>"</a:t>
            </a:r>
            <a:r>
              <a:rPr lang="zh-CN" altLang="en-US" dirty="0"/>
              <a:t>。它回复你什么呢？</a:t>
            </a:r>
            <a:r>
              <a:rPr lang="en-US" altLang="zh-CN" dirty="0"/>
              <a:t>"</a:t>
            </a:r>
            <a:r>
              <a:rPr lang="zh-CN" altLang="en-US" dirty="0"/>
              <a:t>建议你合理规划时间，保持充足睡眠，适当运动可以缓解疲劳。</a:t>
            </a:r>
            <a:r>
              <a:rPr lang="en-US" altLang="zh-CN" dirty="0"/>
              <a:t>"——</a:t>
            </a:r>
            <a:r>
              <a:rPr lang="zh-CN" altLang="en-US" dirty="0"/>
              <a:t>道理都对，但你听完更烦了。因为你那一刻需要的根本不是建议，你需要的是有人说一句</a:t>
            </a:r>
            <a:r>
              <a:rPr lang="en-US" altLang="zh-CN" dirty="0"/>
              <a:t>"</a:t>
            </a:r>
            <a:r>
              <a:rPr lang="zh-CN" altLang="en-US" dirty="0"/>
              <a:t>辛苦了，今天真的不容易</a:t>
            </a:r>
            <a:r>
              <a:rPr lang="en-US" altLang="zh-CN" dirty="0"/>
              <a:t>"</a:t>
            </a:r>
            <a:r>
              <a:rPr lang="zh-CN" altLang="en-US" dirty="0"/>
              <a:t>，然后安安静静陪着你。现有的</a:t>
            </a:r>
            <a:r>
              <a:rPr lang="en-US" altLang="zh-CN" dirty="0"/>
              <a:t>AI</a:t>
            </a:r>
            <a:r>
              <a:rPr lang="zh-CN" altLang="en-US" dirty="0"/>
              <a:t>助手能接住你的话，但接不住你的情绪。</a:t>
            </a:r>
          </a:p>
          <a:p>
            <a:endParaRPr lang="zh-CN" altLang="en-US" dirty="0"/>
          </a:p>
          <a:p>
            <a:r>
              <a:rPr lang="zh-CN" altLang="en-US" dirty="0"/>
              <a:t>第二，信息冰冷没有温度。比如你早上打开手机，天气</a:t>
            </a:r>
            <a:r>
              <a:rPr lang="en-US" altLang="zh-CN" dirty="0"/>
              <a:t>App</a:t>
            </a:r>
            <a:r>
              <a:rPr lang="zh-CN" altLang="en-US" dirty="0"/>
              <a:t>弹了一条通知：</a:t>
            </a:r>
            <a:r>
              <a:rPr lang="en-US" altLang="zh-CN" dirty="0"/>
              <a:t>"</a:t>
            </a:r>
            <a:r>
              <a:rPr lang="zh-CN" altLang="en-US" dirty="0"/>
              <a:t>今日最高气温</a:t>
            </a:r>
            <a:r>
              <a:rPr lang="en-US" altLang="zh-CN" dirty="0"/>
              <a:t>8°C</a:t>
            </a:r>
            <a:r>
              <a:rPr lang="zh-CN" altLang="en-US" dirty="0"/>
              <a:t>，较昨日下降</a:t>
            </a:r>
            <a:r>
              <a:rPr lang="en-US" altLang="zh-CN" dirty="0"/>
              <a:t>12°C</a:t>
            </a:r>
            <a:r>
              <a:rPr lang="zh-CN" altLang="en-US" dirty="0"/>
              <a:t>，北风</a:t>
            </a:r>
            <a:r>
              <a:rPr lang="en-US" altLang="zh-CN" dirty="0"/>
              <a:t>4-5</a:t>
            </a:r>
            <a:r>
              <a:rPr lang="zh-CN" altLang="en-US" dirty="0"/>
              <a:t>级。</a:t>
            </a:r>
            <a:r>
              <a:rPr lang="en-US" altLang="zh-CN" dirty="0"/>
              <a:t>"</a:t>
            </a:r>
            <a:r>
              <a:rPr lang="zh-CN" altLang="en-US" dirty="0"/>
              <a:t>你看了一眼就划掉了，出门还是忘了加衣服。但如果换一种方式呢？你桌面上的桌宠在你打开电脑的时候蹦出来，带着裹围巾的动画跟你说</a:t>
            </a:r>
            <a:r>
              <a:rPr lang="en-US" altLang="zh-CN" dirty="0"/>
              <a:t>"</a:t>
            </a:r>
            <a:r>
              <a:rPr lang="zh-CN" altLang="en-US" dirty="0"/>
              <a:t>宝～今天降温超大的，风也很大，出门一定要穿厚点哦，别感冒了！</a:t>
            </a:r>
            <a:r>
              <a:rPr lang="en-US" altLang="zh-CN" dirty="0"/>
              <a:t>"——</a:t>
            </a:r>
            <a:r>
              <a:rPr lang="zh-CN" altLang="en-US" dirty="0"/>
              <a:t>同样的信息，但你真的会多穿一件。区别不在于信息本身，而在于信息被</a:t>
            </a:r>
            <a:r>
              <a:rPr lang="en-US" altLang="zh-CN" dirty="0"/>
              <a:t>"</a:t>
            </a:r>
            <a:r>
              <a:rPr lang="zh-CN" altLang="en-US" dirty="0"/>
              <a:t>谁</a:t>
            </a:r>
            <a:r>
              <a:rPr lang="en-US" altLang="zh-CN" dirty="0"/>
              <a:t>"</a:t>
            </a:r>
            <a:r>
              <a:rPr lang="zh-CN" altLang="en-US" dirty="0"/>
              <a:t>用</a:t>
            </a:r>
            <a:r>
              <a:rPr lang="en-US" altLang="zh-CN" dirty="0"/>
              <a:t>"</a:t>
            </a:r>
            <a:r>
              <a:rPr lang="zh-CN" altLang="en-US" dirty="0"/>
              <a:t>什么方式</a:t>
            </a:r>
            <a:r>
              <a:rPr lang="en-US" altLang="zh-CN" dirty="0"/>
              <a:t>"</a:t>
            </a:r>
            <a:r>
              <a:rPr lang="zh-CN" altLang="en-US" dirty="0"/>
              <a:t>告诉你。</a:t>
            </a:r>
          </a:p>
          <a:p>
            <a:endParaRPr lang="zh-CN" altLang="en-US" dirty="0"/>
          </a:p>
          <a:p>
            <a:r>
              <a:rPr lang="zh-CN" altLang="en-US" dirty="0"/>
              <a:t>第三，说过的话没被记住。你周一跟</a:t>
            </a:r>
            <a:r>
              <a:rPr lang="en-US" altLang="zh-CN" dirty="0"/>
              <a:t>AI</a:t>
            </a:r>
            <a:r>
              <a:rPr lang="zh-CN" altLang="en-US" dirty="0"/>
              <a:t>闲聊，提了一句</a:t>
            </a:r>
            <a:r>
              <a:rPr lang="en-US" altLang="zh-CN" dirty="0"/>
              <a:t>"</a:t>
            </a:r>
            <a:r>
              <a:rPr lang="zh-CN" altLang="en-US" dirty="0"/>
              <a:t>这周五有个很重要的述职答辩，有点紧张</a:t>
            </a:r>
            <a:r>
              <a:rPr lang="en-US" altLang="zh-CN" dirty="0"/>
              <a:t>"</a:t>
            </a:r>
            <a:r>
              <a:rPr lang="zh-CN" altLang="en-US" dirty="0"/>
              <a:t>。到了周五早上，你希望它能跟你说句</a:t>
            </a:r>
            <a:r>
              <a:rPr lang="en-US" altLang="zh-CN" dirty="0"/>
              <a:t>"</a:t>
            </a:r>
            <a:r>
              <a:rPr lang="zh-CN" altLang="en-US" dirty="0"/>
              <a:t>今天答辩加油哦，你准备得很充分的！</a:t>
            </a:r>
            <a:r>
              <a:rPr lang="en-US" altLang="zh-CN" dirty="0"/>
              <a:t>"——</a:t>
            </a:r>
            <a:r>
              <a:rPr lang="zh-CN" altLang="en-US" dirty="0"/>
              <a:t>但它什么都不记得了。每次对话都是从零开始，就像每天见面的人永远不记得你昨天说了什么，你很难对它产生信任感和依赖感。这就是为什么现有产品很难让用户形成长期使用习惯</a:t>
            </a:r>
            <a:r>
              <a:rPr lang="en-US" altLang="zh-CN" dirty="0"/>
              <a:t>——</a:t>
            </a:r>
            <a:r>
              <a:rPr lang="zh-CN" altLang="en-US" dirty="0"/>
              <a:t>没有记忆，就没有关系的积累。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【1.3 </a:t>
            </a:r>
            <a:r>
              <a:rPr lang="zh-CN" altLang="en-US" dirty="0"/>
              <a:t>用户痛点（续） </a:t>
            </a:r>
            <a:r>
              <a:rPr lang="en-US" altLang="zh-CN" dirty="0"/>
              <a:t>· </a:t>
            </a:r>
            <a:r>
              <a:rPr lang="zh-CN" altLang="en-US" dirty="0"/>
              <a:t>约</a:t>
            </a:r>
            <a:r>
              <a:rPr lang="en-US" altLang="zh-CN" dirty="0"/>
              <a:t>1</a:t>
            </a:r>
            <a:r>
              <a:rPr lang="zh-CN" altLang="en-US" dirty="0"/>
              <a:t>分钟</a:t>
            </a:r>
            <a:r>
              <a:rPr lang="en-US" altLang="zh-CN" dirty="0"/>
              <a:t>】</a:t>
            </a:r>
          </a:p>
          <a:p>
            <a:endParaRPr lang="en-US" altLang="zh-CN" dirty="0"/>
          </a:p>
          <a:p>
            <a:r>
              <a:rPr lang="en-US" altLang="zh-CN" dirty="0"/>
              <a:t> </a:t>
            </a:r>
            <a:r>
              <a:rPr lang="zh-CN" altLang="en-US" dirty="0"/>
              <a:t>第四，陪伴和工具完全割裂。</a:t>
            </a:r>
            <a:endParaRPr lang="en-US" altLang="zh-CN" dirty="0"/>
          </a:p>
          <a:p>
            <a:r>
              <a:rPr lang="zh-CN" altLang="en-US" dirty="0"/>
              <a:t>给大家举个例子：假设你今天心情低落，打开一个</a:t>
            </a:r>
            <a:r>
              <a:rPr lang="en-US" altLang="zh-CN" dirty="0"/>
              <a:t>AI</a:t>
            </a:r>
            <a:r>
              <a:rPr lang="zh-CN" altLang="en-US" dirty="0"/>
              <a:t>陪伴</a:t>
            </a:r>
            <a:r>
              <a:rPr lang="en-US" altLang="zh-CN" dirty="0"/>
              <a:t>App</a:t>
            </a:r>
            <a:r>
              <a:rPr lang="zh-CN" altLang="en-US" dirty="0"/>
              <a:t>，它很贴心地安慰了你，你感觉好了一些。这时候你想起来明天有个会议要准备材料，你得退出这个</a:t>
            </a:r>
            <a:r>
              <a:rPr lang="en-US" altLang="zh-CN" dirty="0"/>
              <a:t>App</a:t>
            </a:r>
            <a:r>
              <a:rPr lang="zh-CN" altLang="en-US" dirty="0"/>
              <a:t>，打开日历设提醒，再打开文件管理器去找文档</a:t>
            </a:r>
            <a:r>
              <a:rPr lang="en-US" altLang="zh-CN" dirty="0"/>
              <a:t>——</a:t>
            </a:r>
            <a:r>
              <a:rPr lang="zh-CN" altLang="en-US" dirty="0"/>
              <a:t>一瞬间，刚才那点温暖就被打断了。市面上的产品就是这样：陪伴型的，像</a:t>
            </a:r>
            <a:r>
              <a:rPr lang="en-US" altLang="zh-CN" dirty="0"/>
              <a:t>Character.AI</a:t>
            </a:r>
            <a:r>
              <a:rPr lang="zh-CN" altLang="en-US" dirty="0"/>
              <a:t>、星野，聊天很温暖，但你让它帮你查个天气、设个提醒，它做不到；效率型的，像各种</a:t>
            </a:r>
            <a:r>
              <a:rPr lang="en-US" altLang="zh-CN" dirty="0"/>
              <a:t>RPA</a:t>
            </a:r>
            <a:r>
              <a:rPr lang="zh-CN" altLang="en-US" dirty="0"/>
              <a:t>和自动化工具，能干活，但交互冰冷，你不会想跟它聊心事。用户被迫在两类产品之间反复横跳，体验是割裂的。 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第五，主动性边界模糊。</a:t>
            </a:r>
            <a:endParaRPr lang="en-US" altLang="zh-CN" dirty="0"/>
          </a:p>
          <a:p>
            <a:r>
              <a:rPr lang="zh-CN" altLang="en-US" dirty="0"/>
              <a:t>比如你刚安装了一个智能助手，它每隔半小时就弹窗问你</a:t>
            </a:r>
            <a:r>
              <a:rPr lang="en-US" altLang="zh-CN" dirty="0"/>
              <a:t>"</a:t>
            </a:r>
            <a:r>
              <a:rPr lang="zh-CN" altLang="en-US" dirty="0"/>
              <a:t>需要帮忙吗？</a:t>
            </a:r>
            <a:r>
              <a:rPr lang="en-US" altLang="zh-CN" dirty="0"/>
              <a:t>"——</a:t>
            </a:r>
            <a:r>
              <a:rPr lang="zh-CN" altLang="en-US" dirty="0"/>
              <a:t>第一次你觉得挺贴心，第三次就烦了，第五次直接卸载。但反过来，如果它从来不主动联系你，你又觉得它像个摆设。用户真正想要的是：在该出现的时候出现，不该出现的时候安静。这条线怎么把握？我们的方案是基于记忆和情境来判断</a:t>
            </a:r>
            <a:r>
              <a:rPr lang="en-US" altLang="zh-CN" dirty="0"/>
              <a:t>——</a:t>
            </a:r>
            <a:r>
              <a:rPr lang="zh-CN" altLang="en-US" dirty="0"/>
              <a:t>比如你昨天说了</a:t>
            </a:r>
            <a:r>
              <a:rPr lang="en-US" altLang="zh-CN" dirty="0"/>
              <a:t>"</a:t>
            </a:r>
            <a:r>
              <a:rPr lang="zh-CN" altLang="en-US" dirty="0"/>
              <a:t>明天要早起</a:t>
            </a:r>
            <a:r>
              <a:rPr lang="en-US" altLang="zh-CN" dirty="0"/>
              <a:t>"</a:t>
            </a:r>
            <a:r>
              <a:rPr lang="zh-CN" altLang="en-US" dirty="0"/>
              <a:t>，那今天早上提醒你就是</a:t>
            </a:r>
            <a:r>
              <a:rPr lang="en-US" altLang="zh-CN" dirty="0"/>
              <a:t>"</a:t>
            </a:r>
            <a:r>
              <a:rPr lang="zh-CN" altLang="en-US" dirty="0"/>
              <a:t>贴心</a:t>
            </a:r>
            <a:r>
              <a:rPr lang="en-US" altLang="zh-CN" dirty="0"/>
              <a:t>"</a:t>
            </a:r>
            <a:r>
              <a:rPr lang="zh-CN" altLang="en-US" dirty="0"/>
              <a:t>；但如果没有任何上下文就随机弹窗，那就是</a:t>
            </a:r>
            <a:r>
              <a:rPr lang="en-US" altLang="zh-CN" dirty="0"/>
              <a:t>"</a:t>
            </a:r>
            <a:r>
              <a:rPr lang="zh-CN" altLang="en-US" dirty="0"/>
              <a:t>打扰</a:t>
            </a:r>
            <a:r>
              <a:rPr lang="en-US" altLang="zh-CN" dirty="0"/>
              <a:t>"</a:t>
            </a:r>
            <a:r>
              <a:rPr lang="zh-CN" altLang="en-US" dirty="0"/>
              <a:t>。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t>【1.2 隐藏的核心需求 · 约1分钟】</a:t>
            </a:r>
          </a:p>
          <a:p>
            <a:endParaRPr/>
          </a:p>
          <a:p>
            <a:r>
              <a:t>这些痛点背后隐藏着两个核心需求。</a:t>
            </a:r>
          </a:p>
          <a:p>
            <a:endParaRPr/>
          </a:p>
          <a:p>
            <a:r>
              <a:t>第一，情感陪伴需求。独自使用电脑的用户——自由职业者、数字游民、独居年轻人——需要的不是更强的工具，而是一个可以随时说话的"情绪出口"。Replika用户日均交换70条消息，Fuzozo首发3000只即售罄，这些数据说明用户愿意花大量时间和AI建立情感连接。</a:t>
            </a:r>
          </a:p>
          <a:p>
            <a:endParaRPr/>
          </a:p>
          <a:p>
            <a:r>
              <a:t>第二，桌面辅助需求。查天气、设提醒、整理文件，每件小事都要开不同工具，切换成本高，反馈也冰冷。用户缺的不是信息，而是有人把信息用"关心你"的方式告诉你。</a:t>
            </a:r>
          </a:p>
          <a:p>
            <a:endParaRPr/>
          </a:p>
          <a:p>
            <a:r>
              <a:t>ClawPet的立项初衷，正是把这两种需求融合在一起——情感陪伴加高效辅助，不做取舍。</a:t>
            </a:r>
          </a:p>
        </p:txBody>
      </p:sp>
    </p:spTree>
    <p:extLst>
      <p:ext uri="{BB962C8B-B14F-4D97-AF65-F5344CB8AC3E}">
        <p14:creationId xmlns:p14="http://schemas.microsoft.com/office/powerpoint/2010/main" val="21789394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【产品优势与核心定义 · 约40秒】</a:t>
            </a:r>
          </a:p>
          <a:p>
            <a:endParaRPr/>
          </a:p>
          <a:p>
            <a:r>
              <a:t>ClawPet的核心定义：兼具陪伴感、记忆感与轻量工具能力的桌面虚拟伴侣。</a:t>
            </a:r>
          </a:p>
          <a:p>
            <a:endParaRPr/>
          </a:p>
          <a:p>
            <a:r>
              <a:t>三个差异化优势：比底层框架更贴近用户，一键安装就能用；比纯陪伴产品更有实用价值，能聊天也能帮你干活；比传统工具更有温度，通过记忆和情绪识别建立关系感。</a:t>
            </a:r>
          </a:p>
          <a:p>
            <a:endParaRPr/>
          </a:p>
          <a:p>
            <a:r>
              <a:t>我们要解决三个核心问题：让桌宠具备真实的情绪价值、让工具能力服务于陪伴体验、让主动性建立在记忆与情境之上——不是定时弹窗，而是因为"记得你说过什么"才提醒你。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【过渡页】</a:t>
            </a:r>
          </a:p>
          <a:p>
            <a:endParaRPr/>
          </a:p>
          <a:p>
            <a:r>
              <a:t>进入第二章——目标用户与核心场景。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【2.1 核心用户画像 · 约1.5分钟】</a:t>
            </a:r>
          </a:p>
          <a:p>
            <a:endParaRPr/>
          </a:p>
          <a:p>
            <a:r>
              <a:t>第一阶段聚焦三类人：</a:t>
            </a:r>
          </a:p>
          <a:p>
            <a:endParaRPr/>
          </a:p>
          <a:p>
            <a:r>
              <a:t>高压打工人群，22到35岁，核心用户。工作强度大、情绪消耗快，需要"情绪共鸣者"。AI陪伴产品主力消费群以95后女性为主占62%，集中在一二线城市，说明情感陪伴是真实且高频的需求。</a:t>
            </a:r>
          </a:p>
          <a:p>
            <a:endParaRPr/>
          </a:p>
          <a:p>
            <a:r>
              <a:t>粗心独居人群，20到30岁，生活佛系，经常忘事。需要"有温度的生活助手"，把天气、吃饭这些冰冷信息变成主动关怀。</a:t>
            </a:r>
          </a:p>
          <a:p>
            <a:endParaRPr/>
          </a:p>
          <a:p>
            <a:r>
              <a:t>多线程工作者，25到40岁，任务繁杂，讨厌切换工具。需要"贴心记忆助手"，随口一说就被记住，到点自动提醒。</a:t>
            </a:r>
          </a:p>
          <a:p>
            <a:endParaRPr/>
          </a:p>
          <a:p>
            <a:r>
              <a:t>三类人群分别对应我们产品的三个核心功能模块：情绪识别与共情回复、外部API情感化转译、长期记忆与主动唤醒。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【2.2 </a:t>
            </a:r>
            <a:r>
              <a:rPr dirty="0" err="1"/>
              <a:t>核心用户故事</a:t>
            </a:r>
            <a:r>
              <a:rPr dirty="0"/>
              <a:t> · 约2分钟】</a:t>
            </a:r>
          </a:p>
          <a:p>
            <a:endParaRPr dirty="0"/>
          </a:p>
          <a:p>
            <a:r>
              <a:rPr dirty="0" err="1"/>
              <a:t>我来讲三个具体的</a:t>
            </a:r>
            <a:r>
              <a:rPr dirty="0"/>
              <a:t> Aha Moment：</a:t>
            </a:r>
          </a:p>
          <a:p>
            <a:endParaRPr dirty="0"/>
          </a:p>
          <a:p>
            <a:r>
              <a:rPr dirty="0" err="1"/>
              <a:t>故事一</a:t>
            </a:r>
            <a:r>
              <a:rPr dirty="0"/>
              <a:t>——</a:t>
            </a:r>
            <a:r>
              <a:rPr dirty="0" err="1"/>
              <a:t>小美是一个互联网运营，每天加班到深夜。有一天晚上她打开</a:t>
            </a:r>
            <a:r>
              <a:rPr dirty="0"/>
              <a:t> </a:t>
            </a:r>
            <a:r>
              <a:rPr dirty="0" err="1"/>
              <a:t>ClawPet，随口说了句"今天好累，KPI</a:t>
            </a:r>
            <a:r>
              <a:rPr dirty="0"/>
              <a:t> </a:t>
            </a:r>
            <a:r>
              <a:rPr dirty="0" err="1"/>
              <a:t>又没完成，感觉自己好没用</a:t>
            </a:r>
            <a:r>
              <a:rPr dirty="0"/>
              <a:t>"。</a:t>
            </a:r>
            <a:r>
              <a:rPr dirty="0" err="1"/>
              <a:t>ClawPet</a:t>
            </a:r>
            <a:r>
              <a:rPr dirty="0"/>
              <a:t> </a:t>
            </a:r>
            <a:r>
              <a:rPr dirty="0" err="1"/>
              <a:t>没有给她讲道理，而是切换到了一个委屈陪伴的表情动画，用温柔的语气回复</a:t>
            </a:r>
            <a:r>
              <a:rPr dirty="0"/>
              <a:t>："</a:t>
            </a:r>
            <a:r>
              <a:rPr dirty="0" err="1"/>
              <a:t>辛苦了呀，今天已经很努力了，不要对自己太苛刻</a:t>
            </a:r>
            <a:r>
              <a:rPr dirty="0"/>
              <a:t>。" </a:t>
            </a:r>
            <a:r>
              <a:rPr dirty="0" err="1"/>
              <a:t>那一瞬间，小美觉得这不像一个工具，更像一个真正在乎她的朋友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故事二</a:t>
            </a:r>
            <a:r>
              <a:rPr dirty="0"/>
              <a:t>——</a:t>
            </a:r>
            <a:r>
              <a:rPr dirty="0" err="1"/>
              <a:t>小张是一个自由职业者，经常出门忘带伞。有一天他和</a:t>
            </a:r>
            <a:r>
              <a:rPr dirty="0"/>
              <a:t> </a:t>
            </a:r>
            <a:r>
              <a:rPr dirty="0" err="1"/>
              <a:t>ClawPet</a:t>
            </a:r>
            <a:r>
              <a:rPr dirty="0"/>
              <a:t> 闲聊，随口说了句"</a:t>
            </a:r>
            <a:r>
              <a:rPr dirty="0" err="1"/>
              <a:t>明天要去见客户，希望别下雨</a:t>
            </a:r>
            <a:r>
              <a:rPr dirty="0"/>
              <a:t>"。</a:t>
            </a:r>
            <a:r>
              <a:rPr dirty="0" err="1"/>
              <a:t>他自己都忘了这句话。第二天早上，ClawPet</a:t>
            </a:r>
            <a:r>
              <a:rPr dirty="0"/>
              <a:t> </a:t>
            </a:r>
            <a:r>
              <a:rPr dirty="0" err="1"/>
              <a:t>主动弹出提醒，带着可爱的动画说</a:t>
            </a:r>
            <a:r>
              <a:rPr dirty="0"/>
              <a:t>："宝～ </a:t>
            </a:r>
            <a:r>
              <a:rPr dirty="0" err="1"/>
              <a:t>今天有小雨哦，记得带伞</a:t>
            </a:r>
            <a:r>
              <a:rPr dirty="0"/>
              <a:t>！" </a:t>
            </a:r>
            <a:r>
              <a:rPr dirty="0" err="1"/>
              <a:t>这种"我随口说的话被记住了"的感觉，让他对产品产生了强烈的信任感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故事三</a:t>
            </a:r>
            <a:r>
              <a:rPr dirty="0"/>
              <a:t>——</a:t>
            </a:r>
            <a:r>
              <a:rPr dirty="0" err="1"/>
              <a:t>老王是一个项目经理，日程排得满满当当。他随口跟</a:t>
            </a:r>
            <a:r>
              <a:rPr dirty="0"/>
              <a:t> </a:t>
            </a:r>
            <a:r>
              <a:rPr dirty="0" err="1"/>
              <a:t>ClawPet</a:t>
            </a:r>
            <a:r>
              <a:rPr dirty="0"/>
              <a:t> </a:t>
            </a:r>
            <a:r>
              <a:rPr dirty="0" err="1"/>
              <a:t>说了句"下午</a:t>
            </a:r>
            <a:r>
              <a:rPr dirty="0"/>
              <a:t> 3 </a:t>
            </a:r>
            <a:r>
              <a:rPr dirty="0" err="1"/>
              <a:t>点要开项目复盘会</a:t>
            </a:r>
            <a:r>
              <a:rPr dirty="0"/>
              <a:t>"，</a:t>
            </a:r>
            <a:r>
              <a:rPr dirty="0" err="1"/>
              <a:t>下午</a:t>
            </a:r>
            <a:r>
              <a:rPr dirty="0"/>
              <a:t> 2 点 50，桌宠通过敲玻璃动画主动提醒"宝，还有 10 </a:t>
            </a:r>
            <a:r>
              <a:rPr dirty="0" err="1"/>
              <a:t>分钟就要开会啦</a:t>
            </a:r>
            <a:r>
              <a:rPr dirty="0"/>
              <a:t>"。</a:t>
            </a:r>
            <a:r>
              <a:rPr dirty="0" err="1"/>
              <a:t>不用专门打开日历、不用手动设闹钟，这种体验才是真正减轻事务管理压力的方式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【过渡页】</a:t>
            </a:r>
          </a:p>
          <a:p>
            <a:endParaRPr/>
          </a:p>
          <a:p>
            <a:r>
              <a:t>进入第三章——产品架构与功能设计。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【3.1 核心功能清单 · 约1分钟】</a:t>
            </a:r>
          </a:p>
          <a:p>
            <a:endParaRPr/>
          </a:p>
          <a:p>
            <a:r>
              <a:t>MVP规划了五个功能模块。</a:t>
            </a:r>
          </a:p>
          <a:p>
            <a:endParaRPr/>
          </a:p>
          <a:p>
            <a:r>
              <a:t>四个P0：情绪安慰——情绪识别引擎加情感化回复加情绪动画系统；人格化对话——一致性人设加长期记忆；有温度的信息——外部API获取数据后用LLM做情感化转译；主动提醒——长期记忆库加定时扫描加主动唤醒。</a:t>
            </a:r>
          </a:p>
          <a:p>
            <a:endParaRPr/>
          </a:p>
          <a:p>
            <a:r>
              <a:t>一个P1：文件整理——拖拽文件给桌宠，自动分类归档。</a:t>
            </a:r>
          </a:p>
          <a:p>
            <a:endParaRPr/>
          </a:p>
          <a:p>
            <a:r>
              <a:t>四个P0对应的就是上一章三类用户的核心需求，P1是工具能力的延伸。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【3.2 核心逻辑与产品架构 · 约2分钟】</a:t>
            </a:r>
          </a:p>
          <a:p>
            <a:endParaRPr/>
          </a:p>
          <a:p>
            <a:r>
              <a:t>整个系统一条链路："感知——思考——执行"。</a:t>
            </a:r>
          </a:p>
          <a:p>
            <a:endParaRPr/>
          </a:p>
          <a:p>
            <a:r>
              <a:t>感知层接收用户输入、系统事件和定时器触发；思考层由AgentLoop编排，ContextBuilder拼装上下文送入LLM推理；执行层将结构化输出拆为三条并行通道——文案到对话气泡、情绪标签到动画引擎、工具指令到ToolRegistry。</a:t>
            </a:r>
          </a:p>
          <a:p>
            <a:endParaRPr/>
          </a:p>
          <a:p>
            <a:r>
              <a:t>四个关键设计决策：</a:t>
            </a:r>
          </a:p>
          <a:p>
            <a:endParaRPr/>
          </a:p>
          <a:p>
            <a:r>
              <a:t>第一，结构化输出驱动——LLM统一输出JSON，动画和工具调用不用等对话生成完毕，响应更快。</a:t>
            </a:r>
          </a:p>
          <a:p>
            <a:endParaRPr/>
          </a:p>
          <a:p>
            <a:r>
              <a:t>第二，情绪状态机——不完全依赖LLM实时判断。举例：用户说"我今天很开心"，桌宠切到开心表情；接着说"但想起还有作业没写"，LLM判断为焦虑，但状态机会让桌宠从开心先过渡到平静再转为担忧，而不是一下变脸。情绪连贯性决定了用户对桌宠人格真实感的认知。</a:t>
            </a:r>
          </a:p>
          <a:p>
            <a:endParaRPr/>
          </a:p>
          <a:p>
            <a:r>
              <a:t>第三，PicoClaw底座——四大核心组件保障可扩展性。</a:t>
            </a:r>
          </a:p>
          <a:p>
            <a:endParaRPr/>
          </a:p>
          <a:p>
            <a:r>
              <a:t>第四，轻量级记忆与人设——MEMORY.md存记忆，SOUL.md等定义人设，修改即时生效，不用重新训练。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【3.3 核心形态与能力边界 · 约40秒】</a:t>
            </a:r>
          </a:p>
          <a:p>
            <a:endParaRPr/>
          </a:p>
          <a:p>
            <a:r>
              <a:t>产品形态是"常驻后台服务 + 轻量前端交互界面"。</a:t>
            </a:r>
          </a:p>
          <a:p>
            <a:endParaRPr/>
          </a:p>
          <a:p>
            <a:r>
              <a:t>六大能力边界：上下文感知——感知桌面活动；多Agent协作——复杂任务拆解分工；系统能力调用——操作本地文件和命令行；安全透明可控——操作可见可确认；记忆与学习——记住偏好习惯；陪伴与人格化——可配置性格和视觉表达。</a:t>
            </a:r>
          </a:p>
          <a:p>
            <a:endParaRPr/>
          </a:p>
          <a:p>
            <a:r>
              <a:t>这六项划定了ClawPet"能做什么、不做什么"的边界——我们不是全能助手，而是聚焦桌面场景的陪伴型轻量智能体。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【功能架构图 · 约30秒】</a:t>
            </a:r>
          </a:p>
          <a:p>
            <a:endParaRPr/>
          </a:p>
          <a:p>
            <a:r>
              <a:t>四层架构各司其职：</a:t>
            </a:r>
          </a:p>
          <a:p>
            <a:endParaRPr/>
          </a:p>
          <a:p>
            <a:r>
              <a:t>前端展示层——Live2D渲染、对话气泡、悬浮窗、设置面板；</a:t>
            </a:r>
          </a:p>
          <a:p>
            <a:r>
              <a:t>核心逻辑层——AgentLoop消息编排、ContextBuilder、记忆系统、情绪状态机；</a:t>
            </a:r>
          </a:p>
          <a:p>
            <a:r>
              <a:t>工具调用层——天气查询、音乐播放、文件整理、应用启动；</a:t>
            </a:r>
          </a:p>
          <a:p>
            <a:r>
              <a:t>基础设施层——PicoClaw引擎、工作区管理、配置管理、MCP协议桥接。</a:t>
            </a:r>
          </a:p>
          <a:p>
            <a:endParaRPr/>
          </a:p>
          <a:p>
            <a:r>
              <a:t>层与层之间通过清晰接口解耦，新增工具只需在工具调用层注册，不影响上层逻辑。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【过渡页】</a:t>
            </a:r>
          </a:p>
          <a:p>
            <a:endParaRPr/>
          </a:p>
          <a:p>
            <a:r>
              <a:t>最后一章——落地节奏与未来想象。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【4.1 项目目标与里程碑 · 约1分钟】</a:t>
            </a:r>
          </a:p>
          <a:p>
            <a:endParaRPr/>
          </a:p>
          <a:p>
            <a:r>
              <a:t>总周期1.5个月，三个里程碑：</a:t>
            </a:r>
          </a:p>
          <a:p>
            <a:endParaRPr/>
          </a:p>
          <a:p>
            <a:r>
              <a:t>M0（3.12—3.29）产品设计验证——原型图完成，PicoClaw技术可行性验证通过。回答"技术上能不能做"。</a:t>
            </a:r>
          </a:p>
          <a:p>
            <a:endParaRPr/>
          </a:p>
          <a:p>
            <a:r>
              <a:t>M1（3.29—4.08）核心跑通——Live2D动画切换正常，有记忆的对话能力，定时主动提醒跑通。回答"核心体验链路是否通畅"。</a:t>
            </a:r>
          </a:p>
          <a:p>
            <a:endParaRPr/>
          </a:p>
          <a:p>
            <a:r>
              <a:t>M2（4.09—4.23）MVP上线——工具调通，启动3秒内、内存150MB以内，无P0/P1缺陷。回答"能不能交付给真实用户"。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【4.2 结论 · 约30秒】</a:t>
            </a:r>
          </a:p>
          <a:p>
            <a:endParaRPr/>
          </a:p>
          <a:p>
            <a:r>
              <a:t>ClawPet的核心竞争优势不在于单一维度做到最强，而在于精准填补了"陪伴与效率割裂"的市场空白。</a:t>
            </a:r>
          </a:p>
          <a:p>
            <a:endParaRPr/>
          </a:p>
          <a:p>
            <a:r>
              <a:t>基于PicoClaw做应用层优化，吸收陪伴产品的情绪价值，保留智能体的工具扩展潜力，以"一键安装、情感陪伴、轻量辅助、可视化交互"形成差异化。</a:t>
            </a:r>
          </a:p>
          <a:p>
            <a:endParaRPr/>
          </a:p>
          <a:p>
            <a:r>
              <a:t>一句话概括：OpenClaw是引擎，NeuroSama是灵魂，ClawPet是把引擎和灵魂装进一个可爱的身体里，让普通用户一键就能用上。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/>
          <a:lstStyle/>
          <a:p>
            <a:r>
              <a:t>【4.3 产品愿景 · 约1分钟】</a:t>
            </a:r>
          </a:p>
          <a:p>
            <a:endParaRPr/>
          </a:p>
          <a:p>
            <a:r>
              <a:t>桌宠不是终点，是起点。</a:t>
            </a:r>
          </a:p>
          <a:p>
            <a:endParaRPr/>
          </a:p>
          <a:p>
            <a:r>
              <a:t>当下，做好桌面伴侣基本盘——情感陪伴、轻量辅助、长期记忆，支持形象和人格的个性化定制，让每个用户拥有属于自己的数字伴侣。</a:t>
            </a:r>
          </a:p>
          <a:p>
            <a:endParaRPr/>
          </a:p>
          <a:p>
            <a:r>
              <a:t>未来展望是构建开放的桌宠生态平台，有三个方向：</a:t>
            </a:r>
          </a:p>
          <a:p>
            <a:endParaRPr/>
          </a:p>
          <a:p>
            <a:r>
              <a:t>第一，创作者经济——开放创作工具，设计师可以制作桌宠角色上架分发，形成"桌宠版App Store"。</a:t>
            </a:r>
          </a:p>
          <a:p>
            <a:endParaRPr/>
          </a:p>
          <a:p>
            <a:r>
              <a:t>第二，订阅与社交——用户可以订阅喜欢的角色、收藏限定皮肤、和朋友分享互动记录，围绕桌宠形成轻社交。</a:t>
            </a:r>
          </a:p>
          <a:p>
            <a:endParaRPr/>
          </a:p>
          <a:p>
            <a:r>
              <a:t>第三，IP商业化——桌宠可以成为直播虚拟形象、短视频IP、品牌联名载体，打通从数字伴侣到商业变现的完整链路。</a:t>
            </a:r>
          </a:p>
          <a:p>
            <a:endParaRPr/>
          </a:p>
          <a:p>
            <a:r>
              <a:t>一句话：桌宠是入口，平台是终局。</a:t>
            </a:r>
          </a:p>
        </p:txBody>
      </p:sp>
    </p:spTree>
    <p:extLst>
      <p:ext uri="{BB962C8B-B14F-4D97-AF65-F5344CB8AC3E}">
        <p14:creationId xmlns:p14="http://schemas.microsoft.com/office/powerpoint/2010/main" val="338407591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【结尾 · 约30秒】</a:t>
            </a:r>
          </a:p>
          <a:p>
            <a:endParaRPr/>
          </a:p>
          <a:p>
            <a:r>
              <a:t>以上就是ClawPet的完整汇报。</a:t>
            </a:r>
          </a:p>
          <a:p>
            <a:endParaRPr/>
          </a:p>
          <a:p>
            <a:r>
              <a:t>我们发现了一个全球近282亿美元、年增长超30%的市场机会，瞄准三类核心用户，设计了"感知—思考—执行"的技术架构，规划了1.5个月三个里程碑的落地节奏。</a:t>
            </a:r>
          </a:p>
          <a:p>
            <a:endParaRPr/>
          </a:p>
          <a:p>
            <a:r>
              <a:t>在一个越来越多人对着屏幕独处的时代，ClawPet不只是一个工具，它是你桌面上那个"一直在"的小伙伴。</a:t>
            </a:r>
          </a:p>
          <a:p>
            <a:endParaRPr/>
          </a:p>
          <a:p>
            <a:r>
              <a:t>谢谢大家，欢迎提问！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4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25.png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4572000" cy="4572000"/>
          </a:xfrm>
          <a:prstGeom prst="ellipse">
            <a:avLst/>
          </a:prstGeom>
          <a:solidFill>
            <a:srgbClr val="F97066">
              <a:alpha val="12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54864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46304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ClawPet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731520" y="24688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智能虚拟桌宠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200400" y="3200400"/>
            <a:ext cx="27432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3383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汇报组：第一组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情感陪伴 · 轻量辅助 · 桌面伴侣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2026.03.26  |  技术底座：PicoClaw  |  Windows / macOS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章节目录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13716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37160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371600"/>
            <a:ext cx="777240" cy="77724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5544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4173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第一章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691640" y="1691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市场机会与产品定位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00800" y="15544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&amp; Positioning</a:t>
            </a:r>
          </a:p>
        </p:txBody>
      </p:sp>
      <p:sp>
        <p:nvSpPr>
          <p:cNvPr id="10" name="Shape 7"/>
          <p:cNvSpPr/>
          <p:nvPr/>
        </p:nvSpPr>
        <p:spPr>
          <a:xfrm>
            <a:off x="731520" y="228600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31520" y="2286000"/>
            <a:ext cx="777240" cy="777240"/>
          </a:xfrm>
          <a:prstGeom prst="rect">
            <a:avLst/>
          </a:prstGeom>
          <a:solidFill>
            <a:srgbClr val="F97066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46888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91640" y="23317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第二章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691640" y="26060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市场机会与产品定位</a:t>
            </a:r>
          </a:p>
        </p:txBody>
      </p:sp>
      <p:sp>
        <p:nvSpPr>
          <p:cNvPr id="15" name="Text 11"/>
          <p:cNvSpPr/>
          <p:nvPr/>
        </p:nvSpPr>
        <p:spPr>
          <a:xfrm>
            <a:off x="6400800" y="2468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&amp; Scenarios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31520" y="320040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31520" y="3200400"/>
            <a:ext cx="777240" cy="777240"/>
          </a:xfrm>
          <a:prstGeom prst="rect">
            <a:avLst/>
          </a:prstGeom>
          <a:solidFill>
            <a:srgbClr val="155E75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38328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91640" y="32461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第三章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1691640" y="35204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目标用户与核心场景</a:t>
            </a:r>
          </a:p>
        </p:txBody>
      </p:sp>
      <p:sp>
        <p:nvSpPr>
          <p:cNvPr id="21" name="Text 16"/>
          <p:cNvSpPr/>
          <p:nvPr/>
        </p:nvSpPr>
        <p:spPr>
          <a:xfrm>
            <a:off x="6400800" y="3383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&amp; Solution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731520" y="4114800"/>
            <a:ext cx="76809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31520" y="4114800"/>
            <a:ext cx="777240" cy="77724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297680"/>
            <a:ext cx="411480" cy="4114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691640" y="41605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第四章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1691640" y="44348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落地节奏与未来想象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6400800" y="4297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Vision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91B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286000"/>
            <a:ext cx="5486400" cy="54864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第一章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市场机会与产品定位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zh-CN" sz="1600" i="1" dirty="0">
                <a:solidFill>
                  <a:schemeClr val="bg1"/>
                </a:solidFill>
              </a:rPr>
              <a:t>Opportunity &amp; Positioning</a:t>
            </a:r>
            <a:endParaRPr lang="en-US" sz="1600" i="1" dirty="0">
              <a:solidFill>
                <a:schemeClr val="bg1"/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B7F5B54-7F33-8A29-E750-90AD4B322F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874" y="914233"/>
            <a:ext cx="2158171" cy="38408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1.2 时代背景与核心痛点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13716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02179"/>
            <a:ext cx="7680960" cy="323240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188720"/>
            <a:ext cx="64008" cy="326898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3716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325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市场</a:t>
            </a:r>
            <a:r>
              <a:rPr lang="zh-CN" altLang="en-US" sz="16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背景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00200" y="1691639"/>
            <a:ext cx="6537960" cy="1075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zh-CN" altLang="en-US" sz="1300" dirty="0">
              <a:solidFill>
                <a:srgbClr val="47556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altLang="zh-CN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r>
              <a:rPr lang="zh-CN" alt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年全球智能陪伴市场规模已达</a:t>
            </a:r>
            <a:r>
              <a:rPr lang="en-US" altLang="zh-CN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281.9</a:t>
            </a:r>
            <a:r>
              <a:rPr lang="zh-CN" alt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亿美元，预计</a:t>
            </a:r>
            <a:r>
              <a:rPr lang="en-US" altLang="zh-CN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2025-2030</a:t>
            </a:r>
            <a:r>
              <a:rPr lang="zh-CN" alt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年以</a:t>
            </a:r>
            <a:r>
              <a:rPr lang="en-US" altLang="zh-CN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30.8%</a:t>
            </a:r>
            <a:r>
              <a:rPr lang="zh-CN" alt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的复合年增长率扩张。</a:t>
            </a:r>
            <a:r>
              <a:rPr lang="en-US" altLang="zh-CN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r>
              <a:rPr lang="zh-CN" alt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陪伴类</a:t>
            </a:r>
            <a:r>
              <a:rPr lang="en-US" altLang="zh-CN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</a:t>
            </a:r>
            <a:r>
              <a:rPr lang="zh-CN" alt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全球累计下载量突破</a:t>
            </a:r>
            <a:r>
              <a:rPr lang="en-US" altLang="zh-CN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r>
              <a:rPr lang="zh-CN" alt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亿次，消费者年投入超</a:t>
            </a:r>
            <a:r>
              <a:rPr lang="en-US" altLang="zh-CN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zh-CN" alt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亿美元，同比增长超</a:t>
            </a:r>
            <a:r>
              <a:rPr lang="en-US" altLang="zh-CN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r>
              <a:rPr lang="zh-CN" alt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</a:t>
            </a:r>
          </a:p>
          <a:p>
            <a:r>
              <a:rPr lang="zh-CN" alt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与此同时，大模型产品正从网页问答向桌面常驻演进</a:t>
            </a:r>
            <a:r>
              <a:rPr lang="en-US" altLang="zh-CN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</a:t>
            </a:r>
            <a:r>
              <a:rPr lang="zh-CN" alt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字节跳动推出陪伴玩偶</a:t>
            </a:r>
            <a:r>
              <a:rPr lang="en-US" altLang="zh-CN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r>
              <a:rPr lang="zh-CN" alt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显眼包</a:t>
            </a:r>
            <a:r>
              <a:rPr lang="en-US" altLang="zh-CN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r>
              <a:rPr lang="zh-CN" alt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和智能耳机</a:t>
            </a:r>
            <a:r>
              <a:rPr lang="en-US" altLang="zh-CN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 Friend</a:t>
            </a:r>
            <a:r>
              <a:rPr lang="zh-CN" alt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，</a:t>
            </a:r>
            <a:r>
              <a:rPr lang="en-US" altLang="zh-CN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r>
              <a:rPr lang="zh-CN" alt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斥</a:t>
            </a:r>
            <a:r>
              <a:rPr lang="en-US" altLang="zh-CN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r>
              <a:rPr lang="zh-CN" alt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亿美元收购</a:t>
            </a:r>
            <a:r>
              <a:rPr lang="en-US" altLang="zh-CN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r>
              <a:rPr lang="zh-CN" alt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硬件公司</a:t>
            </a:r>
            <a:r>
              <a:rPr lang="en-US" altLang="zh-CN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</a:t>
            </a:r>
            <a:r>
              <a:rPr lang="zh-CN" alt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，科沃斯发布情感机器人</a:t>
            </a:r>
            <a:r>
              <a:rPr lang="en-US" altLang="zh-CN" sz="13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Famibot</a:t>
            </a:r>
            <a:r>
              <a:rPr lang="zh-CN" alt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。行业共识正在形成：</a:t>
            </a:r>
            <a:r>
              <a:rPr lang="en-US" altLang="zh-CN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r>
              <a:rPr lang="zh-CN" alt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的下一站不是更聪明的对话框，而是更有存在感的陪伴体。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320334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00200" y="3167417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用户期待转变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600200" y="3660866"/>
            <a:ext cx="6537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用户不再满足于</a:t>
            </a:r>
            <a:r>
              <a:rPr lang="en-US" altLang="zh-CN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r>
              <a:rPr lang="zh-CN" alt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能回答问题</a:t>
            </a:r>
            <a:r>
              <a:rPr lang="en-US" altLang="zh-CN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r>
              <a:rPr lang="zh-CN" alt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，而是期待</a:t>
            </a:r>
            <a:r>
              <a:rPr lang="en-US" altLang="zh-CN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r>
              <a:rPr lang="zh-CN" alt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具备三个新特质：持续稳定的人格、跨会话的长期记忆、以及在合适时机主动关怀的能力。简而言之</a:t>
            </a:r>
            <a:r>
              <a:rPr lang="en-US" altLang="zh-CN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</a:t>
            </a:r>
            <a:r>
              <a:rPr lang="zh-CN" alt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</a:t>
            </a:r>
            <a:r>
              <a:rPr lang="en-US" altLang="zh-CN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r>
              <a:rPr lang="zh-CN" alt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用完即走的工具</a:t>
            </a:r>
            <a:r>
              <a:rPr lang="en-US" altLang="zh-CN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r>
              <a:rPr lang="zh-CN" alt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变成</a:t>
            </a:r>
            <a:r>
              <a:rPr lang="en-US" altLang="zh-CN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r>
              <a:rPr lang="zh-CN" alt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一直都在的伙伴</a:t>
            </a:r>
            <a:r>
              <a:rPr lang="en-US" altLang="zh-CN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r>
              <a:rPr lang="zh-CN" alt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1.1 </a:t>
            </a:r>
            <a:r>
              <a:rPr lang="zh-CN" alt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市场上现有</a:t>
            </a:r>
            <a:r>
              <a:rPr lang="en-US" altLang="zh-CN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</a:t>
            </a:r>
            <a:r>
              <a:rPr lang="zh-CN" alt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产品 </a:t>
            </a: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与 </a:t>
            </a:r>
            <a:r>
              <a:rPr lang="en-US" sz="2600" b="1" dirty="0" err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破局点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13716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365760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188720"/>
            <a:ext cx="3657600" cy="54864"/>
          </a:xfrm>
          <a:prstGeom prst="rect">
            <a:avLst/>
          </a:prstGeom>
          <a:solidFill>
            <a:srgbClr val="155E7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371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1.4.1 OpenClaw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7373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优势：底层技术扩展性强，工具接入能力深。</a:t>
            </a:r>
            <a:endParaRPr lang="en-US" altLang="zh-CN" sz="1000" dirty="0">
              <a:solidFill>
                <a:srgbClr val="47556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zh-CN" alt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短板：无可视化产品形态，普通用户无法直接使用。</a:t>
            </a:r>
            <a:endParaRPr lang="en-US" altLang="zh-CN" sz="1000" dirty="0">
              <a:solidFill>
                <a:srgbClr val="47556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zh-CN" alt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我们做到了： 一键安装的图形化桌宠体验。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65760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3657600" cy="54864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371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1.4.2 NeuroSama（类产品）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7373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优势：人格化互动强，能提供较高情绪价值。</a:t>
            </a:r>
            <a:endParaRPr lang="en-US" altLang="zh-CN" sz="1000" dirty="0">
              <a:solidFill>
                <a:srgbClr val="47556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zh-CN" alt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短板：工具能力为零，无法进入桌面任务场景。</a:t>
            </a:r>
            <a:endParaRPr lang="en-US" altLang="zh-CN" sz="1000" dirty="0">
              <a:solidFill>
                <a:srgbClr val="47556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zh-CN" alt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我们做到了： 天气提醒、文件整理等轻量工具闭环。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880360"/>
            <a:ext cx="365760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2880360"/>
            <a:ext cx="36576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063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1.4.3 传统AI产品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34290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优势：长期互动好，适合承接孤独感和表达欲。</a:t>
            </a:r>
            <a:endParaRPr lang="en-US" altLang="zh-CN" sz="1000" dirty="0">
              <a:solidFill>
                <a:srgbClr val="47556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zh-CN" alt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短板：缺乏桌面感知和工具联动，仅限聊天。</a:t>
            </a:r>
            <a:endParaRPr lang="en-US" altLang="zh-CN" sz="1000" dirty="0">
              <a:solidFill>
                <a:srgbClr val="47556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zh-CN" alt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我们做到了： 桌面常驻 </a:t>
            </a:r>
            <a:r>
              <a:rPr lang="en-US" altLang="zh-CN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zh-CN" alt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系统事件感知 </a:t>
            </a:r>
            <a:r>
              <a:rPr lang="en-US" altLang="zh-CN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zh-CN" alt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主动唤醒。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2880360"/>
            <a:ext cx="3657600" cy="15087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880360"/>
            <a:ext cx="3657600" cy="54864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3063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1.4.4 自动化/RPA 产品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0" y="34290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优势：规则任务执行能力强，自动化程度高。</a:t>
            </a:r>
            <a:endParaRPr lang="en-US" altLang="zh-CN" sz="1000" dirty="0">
              <a:solidFill>
                <a:srgbClr val="47556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zh-CN" alt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短板：配置门槛高、无人格感、无情绪价值。</a:t>
            </a:r>
            <a:endParaRPr lang="en-US" altLang="zh-CN" sz="1000" dirty="0">
              <a:solidFill>
                <a:srgbClr val="47556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zh-CN" alt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我们做到了： 自然语言交互 </a:t>
            </a:r>
            <a:r>
              <a:rPr lang="en-US" altLang="zh-CN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zh-CN" alt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情感化表达 </a:t>
            </a:r>
            <a:r>
              <a:rPr lang="en-US" altLang="zh-CN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zh-CN" alt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零配置。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1.3 用户痛点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13716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768096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188720"/>
            <a:ext cx="64008" cy="1097280"/>
          </a:xfrm>
          <a:prstGeom prst="rect">
            <a:avLst/>
          </a:prstGeom>
          <a:solidFill>
            <a:srgbClr val="F9706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3258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28016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1.3.1 情绪表达被接收，但缺乏共情回应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645920" y="164592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 AI 助手虽能识别文本表面含义，却缺乏对用户情绪状态的精准感知与共情反馈。当用户表达低落、委屈、疲惫等负面情绪时，系统往往仅给出理性化回答，无法通过语气、动画、互动形式传递安抚感。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1520" y="2423160"/>
            <a:ext cx="768096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2423160"/>
            <a:ext cx="64008" cy="1097280"/>
          </a:xfrm>
          <a:prstGeom prst="rect">
            <a:avLst/>
          </a:prstGeom>
          <a:solidFill>
            <a:srgbClr val="F97066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256032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45920" y="251460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1.3.2 信息可以获取，但缺乏「有温度的转译」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645920" y="288036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天气、日历、提醒等工具虽能提供准确的信息结果，但信息呈现方式普遍偏向功能化、模板化，缺乏生活化的关怀表达，难以转化为引导用户主动行动的有效提醒。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31520" y="3657600"/>
            <a:ext cx="768096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31520" y="3657600"/>
            <a:ext cx="64008" cy="1097280"/>
          </a:xfrm>
          <a:prstGeom prst="rect">
            <a:avLst/>
          </a:prstGeom>
          <a:solidFill>
            <a:srgbClr val="F97066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379476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374904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1.3.3 用户说过的话无法形成持续记忆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645920" y="411480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许多重要的计划、个人偏好与情绪线索，往往产生于自然聊天过程。现有产品通常无法对这些碎片化表达进行长期沉淀、精准存储与主动唤起，导致「说过的话没有被记住」。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1.3 用户痛点（续）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13716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76809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188720"/>
            <a:ext cx="64008" cy="1280160"/>
          </a:xfrm>
          <a:prstGeom prst="rect">
            <a:avLst/>
          </a:prstGeom>
          <a:solidFill>
            <a:srgbClr val="F9706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3716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28016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1.3.4 陪伴产品与工具产品长期割裂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645920" y="169164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当前市场呈现明显两极分化：陪伴型产品擅长建立情感关系但缺乏真实工具执行能力；效率型产品侧重任务执行与流程处理，却缺乏人格感与情绪价值。用户需在两类产品间频繁切换，体验割裂。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1520" y="2651760"/>
            <a:ext cx="76809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31520" y="2651760"/>
            <a:ext cx="64008" cy="1280160"/>
          </a:xfrm>
          <a:prstGeom prst="rect">
            <a:avLst/>
          </a:prstGeom>
          <a:solidFill>
            <a:srgbClr val="F97066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283464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45920" y="274320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1.3.5 用户期待主动性，但不接受失控式介入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645920" y="315468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用户希望系统能够在合适时机主动提醒、关心、提供辅助，但前提是：系统具备清晰的交互边界、适度的介入频率与可控的操作权限。若主动性缺乏合理依据，产品体验会迅速从「贴心」转变为「打扰」。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8"/>
          <p:cNvSpPr/>
          <p:nvPr/>
        </p:nvSpPr>
        <p:spPr>
          <a:xfrm>
            <a:off x="731520" y="1706786"/>
            <a:ext cx="3657600" cy="2799449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31520" y="1652902"/>
            <a:ext cx="3657600" cy="54864"/>
          </a:xfrm>
          <a:prstGeom prst="rect">
            <a:avLst/>
          </a:prstGeom>
          <a:solidFill>
            <a:srgbClr val="F97066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881502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63040" y="183578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1.2.1 情感陪伴需求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005840" y="2292982"/>
            <a:ext cx="3108960" cy="18998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对于长时间独自使用电脑的用户（尤其是女性用户、极客、自由职业者及数字游民）而言，AI 早已超越单纯的信息工具属性，更承担着情绪支持、陪伴慰藉与正向反馈的角色。这类用户期待 AI 具备持续稳定的人格特质、长期记忆能力、主动关怀意识，以及更具温度、更贴近生活化的交互方式。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754880" y="1652902"/>
            <a:ext cx="3657600" cy="279944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4754880" y="1652902"/>
            <a:ext cx="3657600" cy="54864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881502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0" y="183578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1.2.2 桌面辅助需求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5029200" y="2292981"/>
            <a:ext cx="3108960" cy="1593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日常电脑使用过程中，用户频繁面临信息查询、轻量提醒、内容整理、简单代办等碎片化事务。传统工具虽能分别解决部分问题，但存在切换成本高、表达形式机械、缺乏上下文延续性等痛点，难以形成自然流畅的一体化体验。</a:t>
            </a:r>
            <a:endParaRPr lang="en-US" sz="1100" dirty="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5E4C163D-E256-BCCD-8684-8AA3CB67F6A8}"/>
              </a:ext>
            </a:extLst>
          </p:cNvPr>
          <p:cNvSpPr/>
          <p:nvPr/>
        </p:nvSpPr>
        <p:spPr>
          <a:xfrm>
            <a:off x="731520" y="691149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1.2 </a:t>
            </a:r>
            <a:r>
              <a:rPr lang="zh-CN" alt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隐藏的核心需求</a:t>
            </a:r>
            <a:endParaRPr lang="en-US" sz="260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33782721-0D04-AB1D-E76F-3A514DE71D9E}"/>
              </a:ext>
            </a:extLst>
          </p:cNvPr>
          <p:cNvSpPr/>
          <p:nvPr/>
        </p:nvSpPr>
        <p:spPr>
          <a:xfrm>
            <a:off x="731520" y="1257097"/>
            <a:ext cx="1371600" cy="36576"/>
          </a:xfrm>
          <a:prstGeom prst="rect">
            <a:avLst/>
          </a:prstGeom>
          <a:solidFill>
            <a:srgbClr val="0891B2"/>
          </a:solidFill>
          <a:ln/>
        </p:spPr>
      </p:sp>
    </p:spTree>
    <p:extLst>
      <p:ext uri="{BB962C8B-B14F-4D97-AF65-F5344CB8AC3E}">
        <p14:creationId xmlns:p14="http://schemas.microsoft.com/office/powerpoint/2010/main" val="8999202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我们希望产品具备的优势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13716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97280"/>
            <a:ext cx="24688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12344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1737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比底层框架更贴近用户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68680" y="2057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一键安装、桌宠形象和图形化交互，大幅降低使用门槛。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410712" y="1097280"/>
            <a:ext cx="24688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0832" y="123444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47872" y="1737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比纯陪伴产品更有实用价值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547872" y="2057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不仅能聊天，还能在天气、提醒、文件整理等场景提供轻量辅助。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089904" y="1097280"/>
            <a:ext cx="246888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0024" y="123444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27064" y="17373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比传统工具更有温度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227064" y="20574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通过长期记忆、情绪识别、动画反馈和主动提醒，建立更强关系感。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731520" y="2697480"/>
            <a:ext cx="7680960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7" name="Text 12"/>
          <p:cNvSpPr/>
          <p:nvPr/>
        </p:nvSpPr>
        <p:spPr>
          <a:xfrm>
            <a:off x="914400" y="271576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ClawPet = 兼具陪伴感、记忆感与轻量工具能力的桌面虚拟伴侣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731520" y="3383280"/>
            <a:ext cx="768096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31520" y="3383280"/>
            <a:ext cx="64008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0" name="Text 15"/>
          <p:cNvSpPr/>
          <p:nvPr/>
        </p:nvSpPr>
        <p:spPr>
          <a:xfrm>
            <a:off x="1051560" y="340156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让桌宠具备真实的情绪价值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1051560" y="3611880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精准识别情绪并通过多模态方式共情回应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31520" y="3931920"/>
            <a:ext cx="64008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4" name="Text 19"/>
          <p:cNvSpPr/>
          <p:nvPr/>
        </p:nvSpPr>
        <p:spPr>
          <a:xfrm>
            <a:off x="1051560" y="39502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让工具能力服务于陪伴体验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1051560" y="4160520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传递「它在关心我，并顺手帮我解决了小麻烦」的体验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731520" y="4480560"/>
            <a:ext cx="768096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731520" y="4480560"/>
            <a:ext cx="64008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8" name="Text 23"/>
          <p:cNvSpPr/>
          <p:nvPr/>
        </p:nvSpPr>
        <p:spPr>
          <a:xfrm>
            <a:off x="1051560" y="449884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让主动性建立在记忆与情境之上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1051560" y="4709160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基于用户历史表达或场景状态判断，非简单定时触发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70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286000"/>
            <a:ext cx="5486400" cy="54864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第二章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目标用户与核心场景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&amp; Scenarios</a:t>
            </a:r>
            <a:endParaRPr lang="en-US" sz="16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F64CBC8-9D94-8519-5F20-A35B944757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4252" y="820215"/>
            <a:ext cx="1880688" cy="363000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2.1 核心用户画像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13716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97280"/>
            <a:ext cx="246888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97280"/>
            <a:ext cx="2468880" cy="640080"/>
          </a:xfrm>
          <a:prstGeom prst="rect">
            <a:avLst/>
          </a:prstGeom>
          <a:solidFill>
            <a:srgbClr val="F9706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11887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1874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高压打工人</a:t>
            </a:r>
            <a:r>
              <a:rPr lang="zh-CN" alt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群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（</a:t>
            </a:r>
            <a:r>
              <a:rPr lang="en-US" sz="1400" b="1" dirty="0" err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核心</a:t>
            </a: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）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8680" y="23774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22-35岁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371600" y="2697480"/>
            <a:ext cx="118872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34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工作强度大</a:t>
            </a:r>
            <a:endParaRPr lang="en-US" sz="1100" dirty="0"/>
          </a:p>
          <a:p>
            <a:pPr algn="ctr"/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情绪消耗快</a:t>
            </a:r>
            <a:endParaRPr lang="en-US" sz="1100" dirty="0">
              <a:solidFill>
                <a:srgbClr val="47556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868680" y="3383280"/>
            <a:ext cx="2194560" cy="10058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34290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970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核心期待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914400" y="37033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「情绪共鸣者」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希望在低落时获得温暖安抚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410712" y="1097280"/>
            <a:ext cx="246888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410712" y="1097280"/>
            <a:ext cx="2468880" cy="64008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0832" y="1188720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547872" y="1874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粗心独居</a:t>
            </a:r>
            <a:r>
              <a:rPr lang="zh-CN" alt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人群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3547872" y="23774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20-30岁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050792" y="2697480"/>
            <a:ext cx="118872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Text 16"/>
          <p:cNvSpPr/>
          <p:nvPr/>
        </p:nvSpPr>
        <p:spPr>
          <a:xfrm>
            <a:off x="3547872" y="2834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生活佛系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易忽视日常事项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3547872" y="3383280"/>
            <a:ext cx="2194560" cy="10058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2" name="Text 18"/>
          <p:cNvSpPr/>
          <p:nvPr/>
        </p:nvSpPr>
        <p:spPr>
          <a:xfrm>
            <a:off x="3593592" y="34290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核心期待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3593592" y="37033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「有温度的生活助手」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将冰冷信息转化为主动提醒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6089904" y="1097280"/>
            <a:ext cx="246888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6089904" y="1097280"/>
            <a:ext cx="2468880" cy="64008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0024" y="1188720"/>
            <a:ext cx="457200" cy="45720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227064" y="1874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多线程工作</a:t>
            </a:r>
            <a:r>
              <a:rPr lang="zh-CN" alt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者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6227064" y="23774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25-40岁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6729984" y="2697480"/>
            <a:ext cx="118872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0" name="Text 25"/>
          <p:cNvSpPr/>
          <p:nvPr/>
        </p:nvSpPr>
        <p:spPr>
          <a:xfrm>
            <a:off x="6227064" y="28346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日常任务繁杂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讨厌频繁切换工具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6227064" y="3383280"/>
            <a:ext cx="2194560" cy="10058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2" name="Text 27"/>
          <p:cNvSpPr/>
          <p:nvPr/>
        </p:nvSpPr>
        <p:spPr>
          <a:xfrm>
            <a:off x="6272784" y="34290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核心期待</a:t>
            </a:r>
            <a:endParaRPr lang="en-US" sz="1000" dirty="0"/>
          </a:p>
        </p:txBody>
      </p:sp>
      <p:sp>
        <p:nvSpPr>
          <p:cNvPr id="33" name="Text 28"/>
          <p:cNvSpPr/>
          <p:nvPr/>
        </p:nvSpPr>
        <p:spPr>
          <a:xfrm>
            <a:off x="6272784" y="37033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「贴心记忆助手」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记住随口表达并提供轻量辅助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2.2 核心用户故事 (Aha Moment)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13716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43000"/>
            <a:ext cx="768096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143000"/>
            <a:ext cx="64008" cy="1097280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21615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故事1：高压打工人 · 情绪安抚场景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581912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用户说「今天好累，KPI 又没完成，感觉自己好没用」，ClawPet 快速识别低落情绪，不仅用温柔语气安慰，还会切换委屈陪伴的 Live2D 动画。没有生硬的道理，只有共情的回应，让用户感受到被理解、被安抚。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423160"/>
            <a:ext cx="768096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423160"/>
            <a:ext cx="64008" cy="10972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249631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故事2：粗心独居者 · 生活提醒场景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51560" y="2862072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用户闲聊时说「明天要去见客户，希望别下雨」，ClawPet 默默记住。第二天早上主动弹出提醒「宝～ 今天有小雨哦，记得带伞」；中午又提醒「该吃饭啦」。冰冷的天气、时间信息变成有温度的关怀。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703320"/>
            <a:ext cx="768096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703320"/>
            <a:ext cx="64008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377647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故事3：多线程工作者 · </a:t>
            </a:r>
            <a:r>
              <a:rPr lang="zh-CN" alt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协助办公</a:t>
            </a:r>
            <a:r>
              <a:rPr lang="en-US" sz="1400" b="1" dirty="0" err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场景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4142232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用户正在赶方案，桌宠感知到连续工作</a:t>
            </a:r>
            <a:r>
              <a:rPr lang="en-US" altLang="zh-CN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zh-CN" alt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小时未休息，主动提醒喝水休息。用户拖了一份杂乱的文件夹给桌宠，说</a:t>
            </a:r>
            <a:r>
              <a:rPr lang="en-US" altLang="zh-CN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r>
              <a:rPr lang="zh-CN" alt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帮我按项目整理一下</a:t>
            </a:r>
            <a:r>
              <a:rPr lang="en-US" altLang="zh-CN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r>
              <a:rPr lang="zh-CN" alt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。桌宠自动按文件名和类型分类归档，完成后用撒娇动画汇报</a:t>
            </a:r>
            <a:r>
              <a:rPr lang="en-US" altLang="zh-CN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r>
              <a:rPr lang="zh-CN" alt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整理好啦～一共归了</a:t>
            </a:r>
            <a:r>
              <a:rPr lang="en-US" altLang="zh-CN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zh-CN" alt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个文件夹哦</a:t>
            </a:r>
            <a:r>
              <a:rPr lang="en-US" altLang="zh-CN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</a:t>
            </a:r>
            <a:r>
              <a:rPr lang="zh-CN" alt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69203684bb6b74f871a5b239742e8f5">
            <a:hlinkClick r:id="" action="ppaction://media"/>
            <a:extLst>
              <a:ext uri="{FF2B5EF4-FFF2-40B4-BE49-F238E27FC236}">
                <a16:creationId xmlns:a16="http://schemas.microsoft.com/office/drawing/2014/main" id="{3EB4E3CB-AC92-5594-5B3E-997441F0935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08000" y="285750"/>
            <a:ext cx="812800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531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5667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55E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286000"/>
            <a:ext cx="5486400" cy="54864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第三章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产品架构与功能设计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Features</a:t>
            </a:r>
            <a:endParaRPr lang="en-US" sz="16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65D5DFB-E457-8761-F05F-39E5D98A97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579120"/>
            <a:ext cx="2043126" cy="414147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3.1 </a:t>
            </a:r>
            <a:r>
              <a:rPr lang="zh-CN" alt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核心</a:t>
            </a:r>
            <a:r>
              <a:rPr lang="en-US" sz="2600" b="1" dirty="0" err="1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功能清单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1371600" cy="36576"/>
          </a:xfrm>
          <a:prstGeom prst="rect">
            <a:avLst/>
          </a:prstGeom>
          <a:solidFill>
            <a:srgbClr val="0891B2"/>
          </a:solidFill>
          <a:ln/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7406640" cy="315468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用户需求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对应功能点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优先级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在心情低落时获得安慰和陪伴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情绪识别引擎 + 情感化回复生成 + 情绪动画系统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日常闲聊像和真人对话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人格化对话系统（一致性人设 + 长期记忆）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查天气等信息得到有温度反馈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外部 API 调用 + LLM 情感化数据转译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随口计划被记住并主动提醒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长期记忆库 + 定时记忆扫描 + 主动唤醒机制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P0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0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拖拽文件让桌宠帮忙整理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文件拖拽监听 + 本地文件整理工具 + 任务动画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P1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3.2 核心逻辑与产品架构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13716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43000"/>
            <a:ext cx="246888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143000"/>
            <a:ext cx="2468880" cy="411480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612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感知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6459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用户输入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系统事件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定时器触发</a:t>
            </a:r>
            <a:endParaRPr lang="en-US" sz="11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1691640"/>
            <a:ext cx="274320" cy="2743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657600" y="1143000"/>
            <a:ext cx="246888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57600" y="1143000"/>
            <a:ext cx="2468880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8"/>
          <p:cNvSpPr/>
          <p:nvPr/>
        </p:nvSpPr>
        <p:spPr>
          <a:xfrm>
            <a:off x="3657600" y="11612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思考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840480" y="16459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AgentLoop 编排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ContextBuilder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推理</a:t>
            </a:r>
            <a:endParaRPr lang="en-US" sz="11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91640"/>
            <a:ext cx="274320" cy="27432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583680" y="1143000"/>
            <a:ext cx="246888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83680" y="1143000"/>
            <a:ext cx="2468880" cy="411480"/>
          </a:xfrm>
          <a:prstGeom prst="rect">
            <a:avLst/>
          </a:prstGeom>
          <a:solidFill>
            <a:srgbClr val="155E75"/>
          </a:solidFill>
          <a:ln/>
        </p:spPr>
      </p:sp>
      <p:sp>
        <p:nvSpPr>
          <p:cNvPr id="16" name="Text 12"/>
          <p:cNvSpPr/>
          <p:nvPr/>
        </p:nvSpPr>
        <p:spPr>
          <a:xfrm>
            <a:off x="6583680" y="11612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执行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766560" y="16459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text: 回复文案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emotion: 情绪标签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tool_call: 工具指令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731520" y="2880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关键设计决策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731520" y="3291840"/>
            <a:ext cx="36576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31520" y="3291840"/>
            <a:ext cx="64008" cy="685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7"/>
          <p:cNvSpPr/>
          <p:nvPr/>
        </p:nvSpPr>
        <p:spPr>
          <a:xfrm>
            <a:off x="960120" y="33375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5E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结构化输出驱动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960120" y="3611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统一输出 JSON（文案、情绪标签、工具指令），应用层解析后并行执行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4754880" y="3291840"/>
            <a:ext cx="36576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4754880" y="3291840"/>
            <a:ext cx="64008" cy="685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5" name="Text 21"/>
          <p:cNvSpPr/>
          <p:nvPr/>
        </p:nvSpPr>
        <p:spPr>
          <a:xfrm>
            <a:off x="4983480" y="33375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5E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情绪状态机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4983480" y="3611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应用层维护状态机，确保情绪表现连贯稳定，不完全依赖 LLM 实时判断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731520" y="4114800"/>
            <a:ext cx="36576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731520" y="4114800"/>
            <a:ext cx="64008" cy="685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9" name="Text 25"/>
          <p:cNvSpPr/>
          <p:nvPr/>
        </p:nvSpPr>
        <p:spPr>
          <a:xfrm>
            <a:off x="960120" y="41605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5E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PicoClaw 底座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960120" y="4434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AgentLoop、AgentInstance、ContextBuilder、ToolRegistry 四大核心组件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4754880" y="4114800"/>
            <a:ext cx="36576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4754880" y="4114800"/>
            <a:ext cx="64008" cy="685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3" name="Text 29"/>
          <p:cNvSpPr/>
          <p:nvPr/>
        </p:nvSpPr>
        <p:spPr>
          <a:xfrm>
            <a:off x="4983480" y="41605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5E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轻量级记忆与人设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4983480" y="4434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MEMORY.md 存储长期记忆；SOUL.md / IDENTITY.md / USER.md 定义人设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3.3 核心形态与能力边界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13716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515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产品形态：「常驻后台服务 + 轻量化前端交互界面」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246888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16459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1488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上下文感知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与事件驱动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68680" y="2560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持续感知桌面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活动与状态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410712" y="1508760"/>
            <a:ext cx="246888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0832" y="164592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47872" y="21488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多 Agent 协作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与任务拆解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3547872" y="2560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面向复杂任务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的分工协作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089904" y="1508760"/>
            <a:ext cx="246888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0024" y="164592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27064" y="21488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系统能力调用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6227064" y="2560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统一工具层调用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本地命令行等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731520" y="3200400"/>
            <a:ext cx="246888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91640" y="3337560"/>
            <a:ext cx="457200" cy="4572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68680" y="3840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安全透明可控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868680" y="4251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执行过程可见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权限与沙箱机制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3410712" y="3200400"/>
            <a:ext cx="246888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70832" y="3337560"/>
            <a:ext cx="457200" cy="4572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547872" y="3840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记忆与学习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3547872" y="4251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记录偏好与习惯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提升准确性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6089904" y="3200400"/>
            <a:ext cx="246888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50024" y="3337560"/>
            <a:ext cx="457200" cy="45720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227064" y="38404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陪伴感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与人格化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6227064" y="4251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可配置的人格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视觉/声音表达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功能架构图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13716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2926080" y="1051560"/>
            <a:ext cx="3291840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2926080" y="106984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ClawPet 功能架构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1508760"/>
            <a:ext cx="0" cy="22860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37360"/>
            <a:ext cx="1965960" cy="384048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5564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前端展示层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240280"/>
            <a:ext cx="187452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26771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桌宠渲染引擎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Live2D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2898648"/>
            <a:ext cx="187452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29260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对话气泡 UI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" y="3557016"/>
            <a:ext cx="187452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358444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悬浮窗管理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" y="4215384"/>
            <a:ext cx="187452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4242816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设置面板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520440" y="1508760"/>
            <a:ext cx="0" cy="22860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606040" y="1737360"/>
            <a:ext cx="1965960" cy="38404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9" name="Text 17"/>
          <p:cNvSpPr/>
          <p:nvPr/>
        </p:nvSpPr>
        <p:spPr>
          <a:xfrm>
            <a:off x="2606040" y="175564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核心逻辑层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651760" y="2240280"/>
            <a:ext cx="187452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697480" y="226771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AgentLoop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消息编排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651760" y="2898648"/>
            <a:ext cx="187452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697480" y="29260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ContextBuilder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提示词工程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651760" y="3557016"/>
            <a:ext cx="187452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697480" y="358444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记忆系统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651760" y="4215384"/>
            <a:ext cx="187452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697480" y="4242816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情绪状态机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主动行为引擎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669280" y="1508760"/>
            <a:ext cx="0" cy="22860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1737360"/>
            <a:ext cx="1965960" cy="384048"/>
          </a:xfrm>
          <a:prstGeom prst="rect">
            <a:avLst/>
          </a:prstGeom>
          <a:solidFill>
            <a:srgbClr val="155E75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175564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工具调用层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00600" y="2240280"/>
            <a:ext cx="187452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46320" y="226771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天气查询服务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00600" y="2898648"/>
            <a:ext cx="187452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846320" y="29260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音乐播放控制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00600" y="3557016"/>
            <a:ext cx="187452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846320" y="358444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文件整理工具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800600" y="4215384"/>
            <a:ext cx="187452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846320" y="4242816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应用启动器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818120" y="1508760"/>
            <a:ext cx="0" cy="22860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903720" y="1737360"/>
            <a:ext cx="1965960" cy="38404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1" name="Text 39"/>
          <p:cNvSpPr/>
          <p:nvPr/>
        </p:nvSpPr>
        <p:spPr>
          <a:xfrm>
            <a:off x="6903720" y="175564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基础设施层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949440" y="2267712"/>
            <a:ext cx="187452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995160" y="2295144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工作区管理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949440" y="2926080"/>
            <a:ext cx="187452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6995160" y="295351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配置管理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949440" y="3584448"/>
            <a:ext cx="187452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6995160" y="36118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协议桥接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9E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286000"/>
            <a:ext cx="5486400" cy="54864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第四章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落地节奏与未来想象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Vision</a:t>
            </a:r>
            <a:endParaRPr lang="en-US" sz="16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AB25C09-4911-839D-461D-5DDDDB71C1A4}"/>
              </a:ext>
            </a:extLst>
          </p:cNvPr>
          <p:cNvPicPr>
            <a:picLocks/>
          </p:cNvPicPr>
          <p:nvPr/>
        </p:nvPicPr>
        <p:blipFill>
          <a:blip r:embed="rId3"/>
          <a:srcRect b="1571"/>
          <a:stretch>
            <a:fillRect/>
          </a:stretch>
        </p:blipFill>
        <p:spPr>
          <a:xfrm>
            <a:off x="6769043" y="681990"/>
            <a:ext cx="2072498" cy="40576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4.1 项目目标与里程碑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13716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515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项目总周期 1.5 个月，每 2 周设置一次里程碑验收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371600" y="1920240"/>
            <a:ext cx="640080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1783080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2240280"/>
            <a:ext cx="237744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97280" y="2240280"/>
            <a:ext cx="237744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2377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80160" y="27889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03.12—03.29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80160" y="3063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产品设计验证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280160" y="3429000"/>
            <a:ext cx="201168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356616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原型图具备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PicoClaw 技术可行性验证完成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80560" y="1783080"/>
            <a:ext cx="274320" cy="274320"/>
          </a:xfrm>
          <a:prstGeom prst="ellipse">
            <a:avLst/>
          </a:prstGeom>
          <a:solidFill>
            <a:srgbClr val="F97066"/>
          </a:solidFill>
          <a:ln/>
        </p:spPr>
      </p:sp>
      <p:sp>
        <p:nvSpPr>
          <p:cNvPr id="15" name="Shape 13"/>
          <p:cNvSpPr/>
          <p:nvPr/>
        </p:nvSpPr>
        <p:spPr>
          <a:xfrm>
            <a:off x="3657600" y="2240280"/>
            <a:ext cx="237744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0" y="2240280"/>
            <a:ext cx="2377440" cy="54864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0" y="2377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970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M1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840480" y="27889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03.29—04.08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840480" y="3063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核心跑通版本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840480" y="3429000"/>
            <a:ext cx="201168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0" y="356616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Live2D 动画切换正常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有记忆能对话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记忆提取与定时主动提醒跑通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040880" y="178308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3" name="Shape 21"/>
          <p:cNvSpPr/>
          <p:nvPr/>
        </p:nvSpPr>
        <p:spPr>
          <a:xfrm>
            <a:off x="6217920" y="2240280"/>
            <a:ext cx="2377440" cy="24688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0" y="2240280"/>
            <a:ext cx="23774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23774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M2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400800" y="27889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04.09—04.23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0" y="30632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MVP 上线版本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0" y="3429000"/>
            <a:ext cx="201168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0" y="356616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天气/音乐工具调通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启动 ≤ 3s、内存 ≤ 150MB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 P0/P1 缺陷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4.2 结论 &amp; 4.3 产品愿景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1371600" cy="3657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2083244"/>
            <a:ext cx="7680960" cy="1625245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2083245"/>
            <a:ext cx="64008" cy="1463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174685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0891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结论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2494725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ClawPet 基于 PicoClaw 底层能力做应用层优化，吸收陪伴型产品的情绪价值优势，同时保留智能体工具扩展的潜力，以「一键安装、情感陪伴、轻量辅助、可视化交互」形成差异化竞争力。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37844" y="3252089"/>
            <a:ext cx="7132320" cy="365760"/>
          </a:xfrm>
          <a:prstGeom prst="rect">
            <a:avLst/>
          </a:prstGeom>
          <a:solidFill>
            <a:srgbClr val="0891B2">
              <a:alpha val="1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3274949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5E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核心竞争优势：精准填补了当前市场中「陪伴与效率割裂」的空白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FB7C60D-1202-4536-2AE7-3E7EF2272EF5}"/>
              </a:ext>
            </a:extLst>
          </p:cNvPr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4.3 产品愿景</a:t>
            </a:r>
            <a:endParaRPr lang="en-US" sz="2600" dirty="0"/>
          </a:p>
        </p:txBody>
      </p:sp>
      <p:sp>
        <p:nvSpPr>
          <p:cNvPr id="3" name="Shape 8">
            <a:extLst>
              <a:ext uri="{FF2B5EF4-FFF2-40B4-BE49-F238E27FC236}">
                <a16:creationId xmlns:a16="http://schemas.microsoft.com/office/drawing/2014/main" id="{128996F3-26FE-52D2-FC1A-02853F39188A}"/>
              </a:ext>
            </a:extLst>
          </p:cNvPr>
          <p:cNvSpPr/>
          <p:nvPr/>
        </p:nvSpPr>
        <p:spPr>
          <a:xfrm>
            <a:off x="763524" y="1063487"/>
            <a:ext cx="7680960" cy="3500561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9">
            <a:extLst>
              <a:ext uri="{FF2B5EF4-FFF2-40B4-BE49-F238E27FC236}">
                <a16:creationId xmlns:a16="http://schemas.microsoft.com/office/drawing/2014/main" id="{3DABFA41-D41F-A692-4662-BDC09DE06D66}"/>
              </a:ext>
            </a:extLst>
          </p:cNvPr>
          <p:cNvSpPr/>
          <p:nvPr/>
        </p:nvSpPr>
        <p:spPr>
          <a:xfrm>
            <a:off x="731520" y="1063488"/>
            <a:ext cx="64008" cy="1965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10">
            <a:extLst>
              <a:ext uri="{FF2B5EF4-FFF2-40B4-BE49-F238E27FC236}">
                <a16:creationId xmlns:a16="http://schemas.microsoft.com/office/drawing/2014/main" id="{761E3745-4F80-AC2D-32E5-3A00DA1D92A3}"/>
              </a:ext>
            </a:extLst>
          </p:cNvPr>
          <p:cNvSpPr/>
          <p:nvPr/>
        </p:nvSpPr>
        <p:spPr>
          <a:xfrm>
            <a:off x="1051560" y="11274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产品愿景</a:t>
            </a:r>
            <a:endParaRPr lang="en-US" sz="1600" dirty="0"/>
          </a:p>
        </p:txBody>
      </p:sp>
      <p:sp>
        <p:nvSpPr>
          <p:cNvPr id="6" name="Text 11">
            <a:extLst>
              <a:ext uri="{FF2B5EF4-FFF2-40B4-BE49-F238E27FC236}">
                <a16:creationId xmlns:a16="http://schemas.microsoft.com/office/drawing/2014/main" id="{B9A1E30C-8037-0F42-8E30-CFAA3D368641}"/>
              </a:ext>
            </a:extLst>
          </p:cNvPr>
          <p:cNvSpPr/>
          <p:nvPr/>
        </p:nvSpPr>
        <p:spPr>
          <a:xfrm>
            <a:off x="1051560" y="1559846"/>
            <a:ext cx="7132320" cy="21375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桌宠只是产品的起点。从长期来看，ClawPet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希望构建一个围绕「虚拟桌宠」展开的开放平台：用户可以持续定制形象、人格与能力，使其成为真正具有个人属性的数</a:t>
            </a:r>
            <a:r>
              <a:rPr lang="en-US" altLang="zh-CN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ClawPet</a:t>
            </a:r>
            <a:r>
              <a:rPr lang="en-US" altLang="zh-CN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zh-CN" alt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的目标并不止于完成一款桌宠产品。桌宠只是产品的起点，是用户感知陪伴价值与工具价值的第一层入口。</a:t>
            </a:r>
          </a:p>
          <a:p>
            <a:pPr marL="0" indent="0">
              <a:buNone/>
            </a:pPr>
            <a:endParaRPr lang="zh-CN" altLang="en-US" sz="1100" dirty="0">
              <a:solidFill>
                <a:srgbClr val="47556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zh-CN" alt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从长期来看，</a:t>
            </a:r>
            <a:r>
              <a:rPr lang="en-US" altLang="zh-CN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ClawPet</a:t>
            </a:r>
            <a:r>
              <a:rPr lang="en-US" altLang="zh-CN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zh-CN" alt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希望构建的是一个围绕“虚拟桌宠”展开的开放平台：用户不仅可以拥有一个能够陪伴自己、理解自己、帮助自己的桌宠，还能够持续定制其形象、人格与能力，使其成为真正具有个人属性的数字伴侣。</a:t>
            </a:r>
          </a:p>
          <a:p>
            <a:pPr marL="0" indent="0">
              <a:buNone/>
            </a:pPr>
            <a:endParaRPr lang="zh-CN" altLang="en-US" sz="1100" dirty="0">
              <a:solidFill>
                <a:srgbClr val="47556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zh-CN" alt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在更长远的规划中，我们希望进一步开发</a:t>
            </a:r>
            <a:r>
              <a:rPr lang="en-US" altLang="zh-CN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ClawPet</a:t>
            </a:r>
            <a:r>
              <a:rPr lang="zh-CN" alt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的开放创作与分发平台，让桌宠不只是被使用的产品角色，也能成为被创造、被订阅、被经营的数字内容载体。用户与创作者可以围绕桌宠形成表达、交易与运营关系，桌宠也可以进一步延展为直播形象、个人品牌或商业 </a:t>
            </a:r>
            <a:r>
              <a:rPr lang="en-US" altLang="zh-CN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</a:t>
            </a:r>
            <a:r>
              <a:rPr lang="zh-CN" alt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的一部分。</a:t>
            </a:r>
          </a:p>
          <a:p>
            <a:pPr marL="0" indent="0">
              <a:buNone/>
            </a:pPr>
            <a:endParaRPr lang="zh-CN" altLang="en-US" sz="1100" dirty="0">
              <a:solidFill>
                <a:srgbClr val="47556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zh-CN" alt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因此，我们对于</a:t>
            </a:r>
            <a:r>
              <a:rPr lang="en-US" altLang="zh-CN" sz="11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ClawPet</a:t>
            </a:r>
            <a:r>
              <a:rPr lang="zh-CN" alt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可以概括为：</a:t>
            </a:r>
          </a:p>
        </p:txBody>
      </p:sp>
      <p:sp>
        <p:nvSpPr>
          <p:cNvPr id="7" name="Shape 12">
            <a:extLst>
              <a:ext uri="{FF2B5EF4-FFF2-40B4-BE49-F238E27FC236}">
                <a16:creationId xmlns:a16="http://schemas.microsoft.com/office/drawing/2014/main" id="{18B2734F-9DBF-680F-AB86-9C2FD8E73AD5}"/>
              </a:ext>
            </a:extLst>
          </p:cNvPr>
          <p:cNvSpPr/>
          <p:nvPr/>
        </p:nvSpPr>
        <p:spPr>
          <a:xfrm>
            <a:off x="731520" y="3914824"/>
            <a:ext cx="768096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13">
            <a:extLst>
              <a:ext uri="{FF2B5EF4-FFF2-40B4-BE49-F238E27FC236}">
                <a16:creationId xmlns:a16="http://schemas.microsoft.com/office/drawing/2014/main" id="{50F3C8BC-1219-C977-A620-F42229BC3185}"/>
              </a:ext>
            </a:extLst>
          </p:cNvPr>
          <p:cNvSpPr/>
          <p:nvPr/>
        </p:nvSpPr>
        <p:spPr>
          <a:xfrm>
            <a:off x="914400" y="3937684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以桌宠为入口，先做有温度的桌面虚拟伴侣，再逐步发展为支持定制、创作、分发与商业化的桌宠平台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941100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4572000" cy="4572000"/>
          </a:xfrm>
          <a:prstGeom prst="ellipse">
            <a:avLst/>
          </a:prstGeom>
          <a:solidFill>
            <a:srgbClr val="F97066">
              <a:alpha val="12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09728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0116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731520" y="28346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ClawPet —— 你的桌面虚拟伴侣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3383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情感陪伴 · 轻量辅助 · 记忆陪伴</a:t>
            </a:r>
            <a:endParaRPr lang="en-US" sz="14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1B2F008-A891-BA27-7A59-AA938355AD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653" y="841853"/>
            <a:ext cx="1883827" cy="362743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3220</Words>
  <Application>Microsoft Office PowerPoint</Application>
  <PresentationFormat>全屏显示(16:9)</PresentationFormat>
  <Paragraphs>437</Paragraphs>
  <Slides>23</Slides>
  <Notes>22</Notes>
  <HiddenSlides>0</HiddenSlides>
  <MMClips>1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7" baseType="lpstr">
      <vt:lpstr>Arial</vt:lpstr>
      <vt:lpstr>Calibri</vt:lpstr>
      <vt:lpstr>Trebuchet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ClawPet 智能虚拟桌宠 PRD（详细版）</dc:title>
  <dc:subject>PptxGenJS Presentation</dc:subject>
  <dc:creator>ClawPet Team</dc:creator>
  <cp:lastModifiedBy>涵月 刘</cp:lastModifiedBy>
  <cp:revision>15</cp:revision>
  <dcterms:created xsi:type="dcterms:W3CDTF">2026-03-28T04:54:44Z</dcterms:created>
  <dcterms:modified xsi:type="dcterms:W3CDTF">2026-03-28T14:15:41Z</dcterms:modified>
</cp:coreProperties>
</file>